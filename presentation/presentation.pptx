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-1302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2FCE6-58E3-42AB-A0EA-C724DD3100F4}" type="datetimeFigureOut">
              <a:rPr lang="tr-TR" smtClean="0"/>
              <a:t>17.06.2026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67CE5-D31C-4BA2-8B08-E2824681D7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810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Introduce yourself and the project title. Mention 10-minute presentation. Quick tour of the stats on the right.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clinical knowledge is unstructured. Approach: OWL+SWRL+SHACL+LLM. Outcomes: 1925 triples, 20/20 SPARQL, Conforms:True, NL pipeline.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OWL classes. Property chain: patient reports symptom → disease with that symptom → possible diagnosis inferred automatically by HermiT. SWRL rule: duration&gt;13 AND fever=Yes → SputumTest. 75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DOID. Expanded from 3 to 50 diseases. 10 clinical categories. 1925 triples. Patient profiles manually authored.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RDF triple model. Show Ali's triples. Property chain infers Tuberculosis. SWRL assigns SputumTest. Transition to Protégé demo.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SPARQL queries total. Basic: 8 queries standard retrieval. Reasoning: 3 queries including SWRL simulation. Aggregation: 9 queries with COUNT, AVG, HAVING, FILTER. All 20 passed. 70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Q10 step by step. FILTER checks two conditions. Results: Ali 14d, Selin 45d both pass. These are exactly the patients SWRL assigns SputumTest to in Protégé.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SHACL shapes. PatientShape most comprehensive — 8 property constraints. sh:in ensures controlled vocabulary on risk, fever, gender, category. Validation: Conforms True, 0 violations, 1925 triples.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6-stage pipeline. System prompt contains full schema — prevents hallucination of non-existent entities. Generated SPARQL validated by RDFLib execution. Show 2 live examples in demo. 70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KPI: 20/20 SPARQL, 7/7 SHACL, 1925 triples, 50 diseases. Six key achievements. Six honest limitations — RDFLib can't do property chain natively, no GraphDB, no probabilistic reasoning.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six conclusions. Future: GraphDB, ICD-10, RAG, Kafka CEP. Show GitHub link. Thank the audience.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80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109728" cy="5148072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0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Engineering and Ontologies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MCBU — Spring 2025–2026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017520" cy="27432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4320" y="234086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309067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Semantic Web Approach to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Decision Support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840480"/>
            <a:ext cx="3291840" cy="27432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9319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Beyza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tr-TR" sz="13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</a:t>
            </a:r>
            <a:r>
              <a:rPr lang="en-US" sz="13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2062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ID: 220316060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44074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Manisa Celal Bayar University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46085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Engineering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5486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0F7FA"/>
          </a:solidFill>
          <a:ln w="12700">
            <a:solidFill>
              <a:srgbClr val="D0E4E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594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1,925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160520" y="1078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RDF Triples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5486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8FBFD"/>
          </a:solidFill>
          <a:ln w="12700">
            <a:solidFill>
              <a:srgbClr val="D0E4E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594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0" y="1078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60520" y="1627632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0F7FA"/>
          </a:solidFill>
          <a:ln w="12700">
            <a:solidFill>
              <a:srgbClr val="D0E4E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60520" y="16733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160520" y="21579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1627632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8FBFD"/>
          </a:solidFill>
          <a:ln w="12700">
            <a:solidFill>
              <a:srgbClr val="D0E4E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16733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83680" y="21579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270662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0F7FA"/>
          </a:solidFill>
          <a:ln w="12700">
            <a:solidFill>
              <a:srgbClr val="D0E4E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60520" y="275234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160520" y="3236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270662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8FBFD"/>
          </a:solidFill>
          <a:ln w="12700">
            <a:solidFill>
              <a:srgbClr val="D0E4E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0" y="275234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583680" y="3236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SPARQL Queries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60520" y="3785616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0F7FA"/>
          </a:solidFill>
          <a:ln w="12700">
            <a:solidFill>
              <a:srgbClr val="D0E4E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60520" y="38313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160520" y="43159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SHACL Shapes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3785616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8FBFD"/>
          </a:solidFill>
          <a:ln w="12700">
            <a:solidFill>
              <a:srgbClr val="D0E4E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583680" y="38313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583680" y="43159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743200" cy="4160520"/>
          </a:xfrm>
          <a:prstGeom prst="roundRect">
            <a:avLst>
              <a:gd name="adj" fmla="val 3333"/>
            </a:avLst>
          </a:prstGeom>
          <a:solidFill>
            <a:srgbClr val="FDF2F2"/>
          </a:solidFill>
          <a:ln w="12700">
            <a:solidFill>
              <a:srgbClr val="F5C6C6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772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777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⚕  Problem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426464"/>
            <a:ext cx="2560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4475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 knowledge stored in unstructured formats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2231136"/>
            <a:ext cx="2560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249424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systems cannot reason over it systematically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3035808"/>
            <a:ext cx="2560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05409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Black-box ML models lack auditability in clinical settings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777240"/>
            <a:ext cx="2743200" cy="4160520"/>
          </a:xfrm>
          <a:prstGeom prst="roundRect">
            <a:avLst>
              <a:gd name="adj" fmla="val 3333"/>
            </a:avLst>
          </a:prstGeom>
          <a:solidFill>
            <a:srgbClr val="EFF5FC"/>
          </a:solidFill>
          <a:ln w="12700">
            <a:solidFill>
              <a:srgbClr val="C8DCF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7772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2C6E9E"/>
          </a:solidFill>
          <a:ln/>
        </p:spPr>
      </p:sp>
      <p:sp>
        <p:nvSpPr>
          <p:cNvPr id="15" name="Text 13"/>
          <p:cNvSpPr/>
          <p:nvPr/>
        </p:nvSpPr>
        <p:spPr>
          <a:xfrm>
            <a:off x="3172968" y="777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Approach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4408" y="1426464"/>
            <a:ext cx="2560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44475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OWL 2 ontology with property chain axiom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64408" y="2231136"/>
            <a:ext cx="2560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2249424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SWRL rule-based clinical decision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4408" y="3035808"/>
            <a:ext cx="2560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305409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SHACL data quality constraints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3840480"/>
            <a:ext cx="2560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85876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natural language query interface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44768" y="777240"/>
            <a:ext cx="2743200" cy="4160520"/>
          </a:xfrm>
          <a:prstGeom prst="roundRect">
            <a:avLst>
              <a:gd name="adj" fmla="val 3333"/>
            </a:avLst>
          </a:prstGeom>
          <a:solidFill>
            <a:srgbClr val="EEF8F1"/>
          </a:solidFill>
          <a:ln w="12700">
            <a:solidFill>
              <a:srgbClr val="A9D9B4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7772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6144768" y="777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Outcomes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36208" y="1426464"/>
            <a:ext cx="2560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A9D9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144475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1,925 RDF triples — 50 diseases, 20 patients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6208" y="2231136"/>
            <a:ext cx="2560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A9D9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2249424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 / 20 SPARQL queries passed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36208" y="3035808"/>
            <a:ext cx="2560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A9D9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305409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SHACL validation: Conforms True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36208" y="3840480"/>
            <a:ext cx="2560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A9D9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385876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End-to-end NL → SPARQL pipeline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F7FAFB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41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OWL Classes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EBF4FA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40280" y="1170432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F0F7FA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17043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EBF4FA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2880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40280" y="182880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F0F7FA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182880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EBF4FA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8716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DiagnosticTest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40280" y="2487168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F0F7FA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48716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ClinicalAlert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EBF4FA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14553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RiskAssessment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40280" y="3145536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F0F7FA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314553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PatientObservation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803904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EBF4FA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0390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DiagnosticRecommendation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40280" y="3803904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F0F7FA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380390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ClinicalRule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462272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EBF4FA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46227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34840" y="777240"/>
            <a:ext cx="4526280" cy="1920240"/>
          </a:xfrm>
          <a:prstGeom prst="roundRect">
            <a:avLst>
              <a:gd name="adj" fmla="val 4762"/>
            </a:avLst>
          </a:prstGeom>
          <a:solidFill>
            <a:srgbClr val="EFF5FC"/>
          </a:solidFill>
          <a:ln w="12700">
            <a:solidFill>
              <a:srgbClr val="2C6E9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26280" y="84124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C6E9E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841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Chain Axiom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26280" y="117043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reportsSymptom ∘ inverse(hasSymptom)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26280" y="148132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⊑  possibleDiagnosis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26280" y="1883664"/>
            <a:ext cx="4251960" cy="27432"/>
          </a:xfrm>
          <a:prstGeom prst="rect">
            <a:avLst/>
          </a:prstGeom>
          <a:solidFill>
            <a:srgbClr val="2C6E9E"/>
          </a:solidFill>
          <a:ln/>
        </p:spPr>
      </p:sp>
      <p:sp>
        <p:nvSpPr>
          <p:cNvPr id="35" name="Text 33"/>
          <p:cNvSpPr/>
          <p:nvPr/>
        </p:nvSpPr>
        <p:spPr>
          <a:xfrm>
            <a:off x="4526280" y="1938528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patient reports symptom S and disease D has symptom S, the reasoner automatically infers D as a possible diagnosis — no manual assertion required.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34840" y="2834640"/>
            <a:ext cx="4526280" cy="2148840"/>
          </a:xfrm>
          <a:prstGeom prst="roundRect">
            <a:avLst>
              <a:gd name="adj" fmla="val 4255"/>
            </a:avLst>
          </a:prstGeom>
          <a:solidFill>
            <a:srgbClr val="EEF8F1"/>
          </a:solidFill>
          <a:ln w="12700">
            <a:solidFill>
              <a:srgbClr val="1E8449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26280" y="289864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28986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SWRL Clinical Rule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26280" y="321868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Patient(?p) ∧ hasSymptomDuration(?p, ?d)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26280" y="349300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∧ swrlb:greaterThan(?d, 13)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26280" y="376732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∧ hasFeverStatus(?p, "Yes")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26280" y="4059936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requiresTest(?p, SputumTest)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26280" y="440740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for: Ali (14 d, fever Yes) · Selin (45 d, fever Yes)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Acquisition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8778240" cy="658368"/>
          </a:xfrm>
          <a:prstGeom prst="roundRect">
            <a:avLst>
              <a:gd name="adj" fmla="val 13889"/>
            </a:avLst>
          </a:prstGeom>
          <a:solidFill>
            <a:srgbClr val="F0F7F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82296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Disease Ontology (DOID) — OBO Foundry registered, DOID identifiers, cross-references to ICD-10 / OMIM / MeSH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627632"/>
            <a:ext cx="1353312" cy="9144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1645920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" y="213969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73352" y="1627632"/>
            <a:ext cx="1353312" cy="914400"/>
          </a:xfrm>
          <a:prstGeom prst="roundRect">
            <a:avLst>
              <a:gd name="adj" fmla="val 10000"/>
            </a:avLst>
          </a:prstGeom>
          <a:solidFill>
            <a:srgbClr val="F8FBFD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73352" y="1645920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73352" y="213969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63824" y="1627632"/>
            <a:ext cx="1353312" cy="9144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63824" y="1645920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163824" y="213969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4296" y="1627632"/>
            <a:ext cx="1353312" cy="914400"/>
          </a:xfrm>
          <a:prstGeom prst="roundRect">
            <a:avLst>
              <a:gd name="adj" fmla="val 10000"/>
            </a:avLst>
          </a:prstGeom>
          <a:solidFill>
            <a:srgbClr val="F8FBFD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54296" y="1645920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54296" y="213969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1627632"/>
            <a:ext cx="1353312" cy="9144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44768" y="1645920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44768" y="213969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1627632"/>
            <a:ext cx="1353312" cy="914400"/>
          </a:xfrm>
          <a:prstGeom prst="roundRect">
            <a:avLst>
              <a:gd name="adj" fmla="val 10000"/>
            </a:avLst>
          </a:prstGeom>
          <a:solidFill>
            <a:srgbClr val="F8FBFD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35240" y="1645920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1,925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635240" y="213969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Category Distribution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2880" y="3017520"/>
            <a:ext cx="8778240" cy="274320"/>
          </a:xfrm>
          <a:prstGeom prst="roundRect">
            <a:avLst>
              <a:gd name="adj" fmla="val 33333"/>
            </a:avLst>
          </a:prstGeom>
          <a:solidFill>
            <a:srgbClr val="F0F7FA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0358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30168" y="303580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60520" y="303580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Influenza, COVID-19, TB, Pneumonia, Dengue, Malaria ...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3319272"/>
            <a:ext cx="877824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3375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Neurological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30168" y="33375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60520" y="333756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Migraine, Alzheimer, Epilepsy, Parkinson, MS, Meningitis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3621024"/>
            <a:ext cx="8778240" cy="274320"/>
          </a:xfrm>
          <a:prstGeom prst="roundRect">
            <a:avLst>
              <a:gd name="adj" fmla="val 33333"/>
            </a:avLst>
          </a:prstGeom>
          <a:solidFill>
            <a:srgbClr val="F0F7FA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36393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30168" y="363931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60520" y="36393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RA, Lupus, Psoriasis, Celiac, Sarcoidosis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2880" y="3922776"/>
            <a:ext cx="877824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394106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Cardiovascular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30168" y="394106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60520" y="39410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Hypertension, HeartFailure, CAD, Stroke, Arrhythmia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82880" y="4224528"/>
            <a:ext cx="8778240" cy="274320"/>
          </a:xfrm>
          <a:prstGeom prst="roundRect">
            <a:avLst>
              <a:gd name="adj" fmla="val 33333"/>
            </a:avLst>
          </a:prstGeom>
          <a:solidFill>
            <a:srgbClr val="F0F7FA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42428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30168" y="424281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60520" y="424281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Diabetes, Hypothyroidism, Hyperthyroidism, Gout, Obesity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82880" y="4526280"/>
            <a:ext cx="877824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45445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30168" y="454456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60520" y="454456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Asthma, Bronchitis, COPD, PulmonaryFibrosis, SleepApnea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82880" y="4828032"/>
            <a:ext cx="8778240" cy="274320"/>
          </a:xfrm>
          <a:prstGeom prst="roundRect">
            <a:avLst>
              <a:gd name="adj" fmla="val 33333"/>
            </a:avLst>
          </a:prstGeom>
          <a:solidFill>
            <a:srgbClr val="F0F7FA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" y="48463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Hematological / Surgical / Renal / Musculoskeletal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30168" y="484632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60520" y="484632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Anemia, Leukemia, Appendicitis, GallstoneDisease, KidneyStones ...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Construction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937760" cy="2926080"/>
          </a:xfrm>
          <a:prstGeom prst="roundRect">
            <a:avLst>
              <a:gd name="adj" fmla="val 3125"/>
            </a:avLst>
          </a:prstGeom>
          <a:solidFill>
            <a:srgbClr val="F7FAFB"/>
          </a:solidFill>
          <a:ln w="12700">
            <a:solidFill>
              <a:srgbClr val="C8DCE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41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RDF Triple 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17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(Patient)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105156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1A7A8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051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Cough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(Symptom)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2C6E9E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Tuberculosis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(Disease)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0" y="260604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2C774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0" y="2606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SputumTest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(DiagTest)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260604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2606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TBAlert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(Alert)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88720" y="1234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reportsSymptom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74520" y="12618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hasSymptom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" y="22860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requiresTest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22128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triggersAlert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011680" y="18928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possibleDiagnosis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(inferred)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57800" y="77724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EDF2F7"/>
          </a:solidFill>
          <a:ln w="12700">
            <a:solidFill>
              <a:srgbClr val="C0CDD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49240" y="84124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841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Turtle Serialization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9240" y="1170432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hdo:Ali rdf:type hdo:Patient 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49240" y="1344168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rdfs:label "Ali" 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49240" y="1517904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hdo:hasAge "35"^^xsd:integer 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49240" y="1691640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hdo:hasGender "Male" 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49240" y="1865376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hdo:hasRiskLevel "Medium" 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49240" y="2039112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hdo:hasFeverStatus "Yes" 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49240" y="2212848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hdo:hasSymptomDuration "14"^^xsd:integer 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49240" y="2386584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hdo:reportsSymptom hdo:Cough ,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49240" y="2560320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hdo:Fever , hdo:NightSweats 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49240" y="2734056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hdo:requiresTest hdo:SputumTest 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49240" y="2907792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hdo:triggersAlert hdo:TBAlert 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82880" y="3794760"/>
            <a:ext cx="8778240" cy="1097280"/>
          </a:xfrm>
          <a:prstGeom prst="roundRect">
            <a:avLst>
              <a:gd name="adj" fmla="val 8333"/>
            </a:avLst>
          </a:prstGeom>
          <a:solidFill>
            <a:srgbClr val="F0F7FA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858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kg_builder_v4.py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4114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healthcare-v4.ttl via RDFLib → executes all 20 SPARQL queries → prints results → serializes to healthcare-kg-v4.ttl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4622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Graph().parse('healthcare-v4.ttl', format='turtle')   |   rows = list(g.query(sparql))   |   g.serialize('output.ttl')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SPARQL Queries — 20 Queries, 3 Categories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743200" cy="4297680"/>
          </a:xfrm>
          <a:prstGeom prst="roundRect">
            <a:avLst>
              <a:gd name="adj" fmla="val 3333"/>
            </a:avLst>
          </a:prstGeom>
          <a:solidFill>
            <a:srgbClr val="EFF5FC"/>
          </a:solidFill>
          <a:ln w="12700">
            <a:solidFill>
              <a:srgbClr val="C8DCF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77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Retrieval  Q1–Q8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325880"/>
            <a:ext cx="2596896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33502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Disease → Symptoms (300 rows)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773936"/>
            <a:ext cx="2596896" cy="393192"/>
          </a:xfrm>
          <a:prstGeom prst="roundRect">
            <a:avLst>
              <a:gd name="adj" fmla="val 13953"/>
            </a:avLst>
          </a:prstGeom>
          <a:solidFill>
            <a:srgbClr val="EFF5FC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78308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Patient → Reported Symptoms (104 rows)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221992"/>
            <a:ext cx="2596896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223113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Patient → Required Test (20 rows)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670048"/>
            <a:ext cx="2596896" cy="393192"/>
          </a:xfrm>
          <a:prstGeom prst="roundRect">
            <a:avLst>
              <a:gd name="adj" fmla="val 13953"/>
            </a:avLst>
          </a:prstGeom>
          <a:solidFill>
            <a:srgbClr val="EFF5FC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6791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Patient → Clinical Alert + Message (18 rows)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3118104"/>
            <a:ext cx="2596896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312724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Full Clinical Profile — age, gender, risk, fever, duration (20 rows)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566160"/>
            <a:ext cx="2596896" cy="393192"/>
          </a:xfrm>
          <a:prstGeom prst="roundRect">
            <a:avLst>
              <a:gd name="adj" fmla="val 13953"/>
            </a:avLst>
          </a:prstGeom>
          <a:solidFill>
            <a:srgbClr val="EFF5FC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357530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Disease → Available Treatments (150 rows)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4014216"/>
            <a:ext cx="2596896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402336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Disease DOID + Clinical Category (50 rows)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4462272"/>
            <a:ext cx="2596896" cy="393192"/>
          </a:xfrm>
          <a:prstGeom prst="roundRect">
            <a:avLst>
              <a:gd name="adj" fmla="val 13953"/>
            </a:avLst>
          </a:prstGeom>
          <a:solidFill>
            <a:srgbClr val="EFF5FC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447141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Patient → Diagnostic Recommendations (20 rows)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71800" y="777240"/>
            <a:ext cx="2011680" cy="4297680"/>
          </a:xfrm>
          <a:prstGeom prst="roundRect">
            <a:avLst>
              <a:gd name="adj" fmla="val 4545"/>
            </a:avLst>
          </a:prstGeom>
          <a:solidFill>
            <a:srgbClr val="EEF5F7"/>
          </a:solidFill>
          <a:ln w="12700">
            <a:solidFill>
              <a:srgbClr val="A8CDD4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71800" y="777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A7A8A"/>
          </a:solidFill>
          <a:ln/>
        </p:spPr>
      </p:sp>
      <p:sp>
        <p:nvSpPr>
          <p:cNvPr id="25" name="Text 23"/>
          <p:cNvSpPr/>
          <p:nvPr/>
        </p:nvSpPr>
        <p:spPr>
          <a:xfrm>
            <a:off x="3044952" y="777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 Q9–Q11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44952" y="1325880"/>
            <a:ext cx="1865376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A8CD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18104" y="1335024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 Patients sharing symptoms with Tuberculosis (29 rows)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44952" y="1773936"/>
            <a:ext cx="1865376" cy="393192"/>
          </a:xfrm>
          <a:prstGeom prst="roundRect">
            <a:avLst>
              <a:gd name="adj" fmla="val 13953"/>
            </a:avLst>
          </a:prstGeom>
          <a:solidFill>
            <a:srgbClr val="EEF5F7"/>
          </a:solidFill>
          <a:ln w="12700">
            <a:solidFill>
              <a:srgbClr val="A8C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18104" y="1783080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 SWRL rule match: duration &gt; 13 d AND fever = Yes (3 rows)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44952" y="2221992"/>
            <a:ext cx="1865376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A8CD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18104" y="2231136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 High-risk patients aged over 50 with test (5 rows)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0" y="777240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F0F4FA"/>
          </a:solidFill>
          <a:ln w="12700">
            <a:solidFill>
              <a:srgbClr val="B8CDE4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77724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2C6E9E"/>
          </a:solidFill>
          <a:ln/>
        </p:spPr>
      </p:sp>
      <p:sp>
        <p:nvSpPr>
          <p:cNvPr id="34" name="Text 32"/>
          <p:cNvSpPr/>
          <p:nvPr/>
        </p:nvSpPr>
        <p:spPr>
          <a:xfrm>
            <a:off x="5102352" y="777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&amp; Filtering  Q12–Q20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102352" y="1325880"/>
            <a:ext cx="4059936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8CD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75504" y="1335024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 Symptom COUNT per disease — GROUP BY, ORDER BY (50 rows)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02352" y="1773936"/>
            <a:ext cx="4059936" cy="393192"/>
          </a:xfrm>
          <a:prstGeom prst="roundRect">
            <a:avLst>
              <a:gd name="adj" fmla="val 13953"/>
            </a:avLst>
          </a:prstGeom>
          <a:solidFill>
            <a:srgbClr val="F0F4FA"/>
          </a:solidFill>
          <a:ln w="12700">
            <a:solidFill>
              <a:srgbClr val="B8CD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75504" y="1783080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 Disease COUNT per category — GROUP BY (10 rows)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02352" y="2221992"/>
            <a:ext cx="4059936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8CD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75504" y="2231136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 Patient COUNT per risk level (3 rows)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02352" y="2670048"/>
            <a:ext cx="4059936" cy="393192"/>
          </a:xfrm>
          <a:prstGeom prst="roundRect">
            <a:avLst>
              <a:gd name="adj" fmla="val 13953"/>
            </a:avLst>
          </a:prstGeom>
          <a:solidFill>
            <a:srgbClr val="F0F4FA"/>
          </a:solidFill>
          <a:ln w="12700">
            <a:solidFill>
              <a:srgbClr val="B8CD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75504" y="2679192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 AVG symptom duration per risk level (3 rows)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02352" y="3118104"/>
            <a:ext cx="4059936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8CD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75504" y="3127248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 Diseases with Fatigue symptom (37 rows)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102352" y="3566160"/>
            <a:ext cx="4059936" cy="393192"/>
          </a:xfrm>
          <a:prstGeom prst="roundRect">
            <a:avLst>
              <a:gd name="adj" fmla="val 13953"/>
            </a:avLst>
          </a:prstGeom>
          <a:solidFill>
            <a:srgbClr val="F0F4FA"/>
          </a:solidFill>
          <a:ln w="12700">
            <a:solidFill>
              <a:srgbClr val="B8CD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75504" y="3575304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 Infectious diseases with &gt; 5 symptoms — HAVING (15 rows)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102352" y="4014216"/>
            <a:ext cx="4059936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8CD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75504" y="4023360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 Female + High risk patients — multi-FILTER (4 rows)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102352" y="4462272"/>
            <a:ext cx="4059936" cy="393192"/>
          </a:xfrm>
          <a:prstGeom prst="roundRect">
            <a:avLst>
              <a:gd name="adj" fmla="val 13953"/>
            </a:avLst>
          </a:prstGeom>
          <a:solidFill>
            <a:srgbClr val="F0F4FA"/>
          </a:solidFill>
          <a:ln w="12700">
            <a:solidFill>
              <a:srgbClr val="B8CD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75504" y="4471416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 Patients symptomatic &gt; 30 days (7 rows)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102352" y="4910328"/>
            <a:ext cx="4059936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8CD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75504" y="4919472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 Cardiovascular diseases + treatments (15 rows)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SPARQL Deep Dive — Q10: SWRL Rule Simulation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DF2F7"/>
          </a:solidFill>
          <a:ln w="12700">
            <a:solidFill>
              <a:srgbClr val="A0B4C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41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SPARQL Query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 hdo: &lt;...healthcare#&gt;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 rdf: &lt;...rdf-syntax-ns#&gt;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 rdfs: &lt;...rdf-schema#&gt;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75564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93852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?patientLabel ?duration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1214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?feverStatus ?riskLevel ?age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30428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{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48716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?p rdf:type hdo:Patient 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67004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?p rdfs:label ?patientLabel 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85292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?p hdo:hasSymptomDuration ?duration 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0358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?p hdo:hasFeverStatus ?feverStatus 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21868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?p hdo:hasRiskLevel ?riskLevel 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40156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?p hdo:hasAge ?age 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358444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 (?duration &gt; 13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76732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&amp;&amp; ?feverStatus = "Yes")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9502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13308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DESC(?duration)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777240"/>
            <a:ext cx="3337560" cy="4160520"/>
          </a:xfrm>
          <a:prstGeom prst="roundRect">
            <a:avLst>
              <a:gd name="adj" fmla="val 2740"/>
            </a:avLst>
          </a:prstGeom>
          <a:solidFill>
            <a:srgbClr val="EEF8F1"/>
          </a:solidFill>
          <a:ln w="12700">
            <a:solidFill>
              <a:srgbClr val="1E8449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84124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841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3 rows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60720" y="1207008"/>
            <a:ext cx="3108960" cy="292608"/>
          </a:xfrm>
          <a:prstGeom prst="roundRect">
            <a:avLst>
              <a:gd name="adj" fmla="val 3125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120700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46520" y="120700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23760" y="1207008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18120" y="120700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60720" y="1536192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5FBF6"/>
          </a:solidFill>
          <a:ln w="12700">
            <a:solidFill>
              <a:srgbClr val="B8D8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155448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46520" y="155448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days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23760" y="155448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18120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60720" y="1975104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B8D8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199339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46520" y="19933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days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23760" y="199339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18120" y="19933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60720" y="2414016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5FBF6"/>
          </a:solidFill>
          <a:ln w="12700">
            <a:solidFill>
              <a:srgbClr val="B8D8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243230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Volkan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46520" y="243230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days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23760" y="243230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18120" y="243230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0" y="2944368"/>
            <a:ext cx="3337560" cy="1993392"/>
          </a:xfrm>
          <a:prstGeom prst="roundRect">
            <a:avLst>
              <a:gd name="adj" fmla="val 4587"/>
            </a:avLst>
          </a:prstGeom>
          <a:solidFill>
            <a:srgbClr val="F7FAFB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29992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query does: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760720" y="3291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Simulates the SWRL rule in SPARQL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760720" y="36027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Identifies patients where symptom duration exceeds 13 days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760720" y="39136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And fever status is recorded as Yes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760720" y="4224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These patients receive SputumTest in Protégé via SWRL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760720" y="4535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Ali and Selin both satisfy both conditions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SHACL Validation — 7 Shapes, Conforms: True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8778240" cy="530352"/>
          </a:xfrm>
          <a:prstGeom prst="roundRect">
            <a:avLst>
              <a:gd name="adj" fmla="val 17241"/>
            </a:avLst>
          </a:prstGeom>
          <a:solidFill>
            <a:srgbClr val="EEF8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Validation Result: Conforms: True  —  Zero violations across all 1,925 triples and 7 SHACL shapes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426464"/>
            <a:ext cx="8778240" cy="438912"/>
          </a:xfrm>
          <a:prstGeom prst="roundRect">
            <a:avLst>
              <a:gd name="adj" fmla="val 20833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44475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PatientShape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33472" y="1444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144475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constraints: min 1 symptom; riskLevel ∈ {Low, Medium, High}; feverStatus ∈ {Yes, No}; age 0–130; gender ∈ {Male, Female, Other}; min 1 diagnostic test; min 1 recommendation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1920240"/>
            <a:ext cx="87782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9385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DiseaseShape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33472" y="19385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69080" y="193852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constraints: 2–10 symptoms; min 1 treatment; exactly 1 DOID; exactly 1 description; category from 10-value controlled vocabulary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2414016"/>
            <a:ext cx="8778240" cy="438912"/>
          </a:xfrm>
          <a:prstGeom prst="roundRect">
            <a:avLst>
              <a:gd name="adj" fmla="val 20833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43230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ClinicalAlertShape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33472" y="243230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ClinicalAlert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243230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constraints: exactly 1 alert message with minimum 10 characters; must carry rdfs:label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907792"/>
            <a:ext cx="87782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92608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DiagnosticTestShape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33472" y="29260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DiagnosticTest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9080" y="29260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constraint: must carry rdfs:label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" y="3401568"/>
            <a:ext cx="8778240" cy="438912"/>
          </a:xfrm>
          <a:prstGeom prst="roundRect">
            <a:avLst>
              <a:gd name="adj" fmla="val 20833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4198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DiagnosticRecommendationShape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33472" y="341985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DiagnosticRecommendation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69080" y="341985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constraint: must carry rdfs:label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3895344"/>
            <a:ext cx="87782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91363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SymptomShape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33472" y="39136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69080" y="391363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constraint: must carry rdfs:label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4389120"/>
            <a:ext cx="8778240" cy="438912"/>
          </a:xfrm>
          <a:prstGeom prst="roundRect">
            <a:avLst>
              <a:gd name="adj" fmla="val 20833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44074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TreatmentShape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33472" y="44074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69080" y="440740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constraint: must carry rdfs:label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4910328"/>
            <a:ext cx="8778240" cy="457200"/>
          </a:xfrm>
          <a:prstGeom prst="roundRect">
            <a:avLst>
              <a:gd name="adj" fmla="val 20000"/>
            </a:avLst>
          </a:prstGeom>
          <a:solidFill>
            <a:srgbClr val="EDF2F7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919472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pyshacl.validate(data_g, shacl_graph=shacl_g, inference='rdfs', abort_on_first=False)   →   Conforms: True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6E9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 — Natural Language to SPARQL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1B3A5C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777240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508760" y="886968"/>
            <a:ext cx="155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64208" y="77724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2C6E9E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64208" y="777240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Schema-Constrained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90088" y="886968"/>
            <a:ext cx="155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45536" y="77724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1A7A8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45536" y="777240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4.6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1416" y="886968"/>
            <a:ext cx="155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26864" y="77724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2C774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777240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52744" y="886968"/>
            <a:ext cx="155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08192" y="77724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7D3C9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08192" y="777240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RDFLib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34072" y="886968"/>
            <a:ext cx="155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0" y="77724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C0392B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777240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2880" y="166420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Interactions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1993392"/>
            <a:ext cx="8778240" cy="310896"/>
          </a:xfrm>
          <a:prstGeom prst="roundRect">
            <a:avLst>
              <a:gd name="adj" fmla="val 29412"/>
            </a:avLst>
          </a:prstGeom>
          <a:solidFill>
            <a:srgbClr val="2C6E9E"/>
          </a:solidFill>
          <a:ln w="12700">
            <a:solidFill>
              <a:srgbClr val="2C6E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99339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Question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199339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SPARQL (key clause)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19933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Result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2340864"/>
            <a:ext cx="8778240" cy="45720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35915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patients have a high risk level?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46120" y="2359152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FILTER(?riskLevel = "High")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44768" y="235915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patients: Ayse, Burak, Zeynep, Hasan, Murat, Derya, Cemil, Gulsah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" y="2852928"/>
            <a:ext cx="8778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87121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treatments are available for Tuberculosis?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46120" y="2871216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hdo:Tuberculosis hdo:hasTreatment ?t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44768" y="2871216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IsoniazidRifampin, Pyrazinamide, Ethambutol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3364992"/>
            <a:ext cx="8778240" cy="45720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38328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symptoms does each disease have?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46120" y="3383280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COUNT(?symptom) GROUP BY ?diseaseLabel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44768" y="338328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rows, ordered descending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" y="3877056"/>
            <a:ext cx="8778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89534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diseases belong to the Neurological category?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46120" y="3895344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FILTER(?cat = "Neurological")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44768" y="3895344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Migraine, Alzheimer, Epilepsy, Parkinson, Multiple Sclerosis, Meningitis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2880" y="4389120"/>
            <a:ext cx="8778240" cy="45720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407408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patients have been symptomatic for more than 30 days?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46120" y="4407408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FILTER(?duration &gt; 30)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44768" y="4407408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Fatma 180d, Kemal 90d, Murat 60d, Nilufer 60d, Aysun 50d, Selin 45d, Mehmet 30d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" y="4974336"/>
            <a:ext cx="8778240" cy="384048"/>
          </a:xfrm>
          <a:prstGeom prst="roundRect">
            <a:avLst>
              <a:gd name="adj" fmla="val 23810"/>
            </a:avLst>
          </a:prstGeom>
          <a:solidFill>
            <a:srgbClr val="FEF9E7"/>
          </a:solidFill>
          <a:ln w="12700">
            <a:solidFill>
              <a:srgbClr val="F0C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97433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mitigation:  schema-anchored system prompt (all 50 diseases, all properties, valid enumerations listed) + RDFLib execution validation of generated SPARQL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Evaluation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7FAFB"/>
          </a:solidFill>
          <a:ln w="12700">
            <a:solidFill>
              <a:srgbClr val="C0D4E4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2057400" cy="7315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8686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" y="14630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SPARQL Queries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95728" y="7772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7FAFB"/>
          </a:solidFill>
          <a:ln w="12700">
            <a:solidFill>
              <a:srgbClr val="C0D4E4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95728" y="777240"/>
            <a:ext cx="2057400" cy="73152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0" name="Text 8"/>
          <p:cNvSpPr/>
          <p:nvPr/>
        </p:nvSpPr>
        <p:spPr>
          <a:xfrm>
            <a:off x="2395728" y="8686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395728" y="14630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SHACL Shapes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08576" y="7772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7FAFB"/>
          </a:solidFill>
          <a:ln w="12700">
            <a:solidFill>
              <a:srgbClr val="C0D4E4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777240"/>
            <a:ext cx="2057400" cy="731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8686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1,925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08576" y="14630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RDF Triples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21424" y="7772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7FAFB"/>
          </a:solidFill>
          <a:ln w="12700">
            <a:solidFill>
              <a:srgbClr val="C0D4E4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21424" y="777240"/>
            <a:ext cx="2057400" cy="73152"/>
          </a:xfrm>
          <a:prstGeom prst="rect">
            <a:avLst/>
          </a:prstGeom>
          <a:solidFill>
            <a:srgbClr val="2C6E9E"/>
          </a:solidFill>
          <a:ln/>
        </p:spPr>
      </p:sp>
      <p:sp>
        <p:nvSpPr>
          <p:cNvPr id="18" name="Text 16"/>
          <p:cNvSpPr/>
          <p:nvPr/>
        </p:nvSpPr>
        <p:spPr>
          <a:xfrm>
            <a:off x="6821424" y="8686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21424" y="14630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2880" y="20848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" y="2395728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EFF5FC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4140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Property chain axiom enables automatic multi-disease differential inference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2834640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F7FAFB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529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SWRL rule correctly fires for Ali and Selin (duration &gt; 13 d, fever = Yes)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3273552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EFF5FC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91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20 SPARQL queries answer all 10 competency questions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712464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F7FAFB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7307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7 SHACL shapes enforce 20 property constraints with zero violations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4151376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EFF5FC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6966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LLM pipeline generates valid SPARQL for diverse clinical questions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4590288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F7FAFB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6085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50 diseases across 10 categories — broadest HDO version to date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0" y="2084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2395728"/>
            <a:ext cx="4389120" cy="384048"/>
          </a:xfrm>
          <a:prstGeom prst="roundRect">
            <a:avLst>
              <a:gd name="adj" fmla="val 23810"/>
            </a:avLst>
          </a:prstGeom>
          <a:solidFill>
            <a:srgbClr val="FDF2F2"/>
          </a:solidFill>
          <a:ln w="12700">
            <a:solidFill>
              <a:srgbClr val="F0C0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41401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RDFLib does not evaluate OWL property chains natively — Protégé pre-processing required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2834640"/>
            <a:ext cx="4389120" cy="384048"/>
          </a:xfrm>
          <a:prstGeom prst="roundRect">
            <a:avLst>
              <a:gd name="adj" fmla="val 23810"/>
            </a:avLst>
          </a:prstGeom>
          <a:solidFill>
            <a:srgbClr val="F9F9F9"/>
          </a:solidFill>
          <a:ln w="12700">
            <a:solidFill>
              <a:srgbClr val="F0C0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8529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SWRL simulated via SPARQL FILTER — no live SWRL engine in RDFLib environment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3273552"/>
            <a:ext cx="4389120" cy="384048"/>
          </a:xfrm>
          <a:prstGeom prst="roundRect">
            <a:avLst>
              <a:gd name="adj" fmla="val 23810"/>
            </a:avLst>
          </a:prstGeom>
          <a:solidFill>
            <a:srgbClr val="FDF2F2"/>
          </a:solidFill>
          <a:ln w="12700">
            <a:solidFill>
              <a:srgbClr val="F0C0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291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GraphDB deployment — all queries run against local in-memory RDFLib graph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3712464"/>
            <a:ext cx="4389120" cy="384048"/>
          </a:xfrm>
          <a:prstGeom prst="roundRect">
            <a:avLst>
              <a:gd name="adj" fmla="val 23810"/>
            </a:avLst>
          </a:prstGeom>
          <a:solidFill>
            <a:srgbClr val="F9F9F9"/>
          </a:solidFill>
          <a:ln w="12700">
            <a:solidFill>
              <a:srgbClr val="F0C0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7307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50 diseases vs 350,000+ in SNOMED CT — limited real-world coverage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0" y="4151376"/>
            <a:ext cx="4389120" cy="384048"/>
          </a:xfrm>
          <a:prstGeom prst="roundRect">
            <a:avLst>
              <a:gd name="adj" fmla="val 23810"/>
            </a:avLst>
          </a:prstGeom>
          <a:solidFill>
            <a:srgbClr val="FDF2F2"/>
          </a:solidFill>
          <a:ln w="12700">
            <a:solidFill>
              <a:srgbClr val="F0C0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16966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probabilistic reasoning — all inference is deterministic and binary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0" y="4590288"/>
            <a:ext cx="4389120" cy="384048"/>
          </a:xfrm>
          <a:prstGeom prst="roundRect">
            <a:avLst>
              <a:gd name="adj" fmla="val 23810"/>
            </a:avLst>
          </a:prstGeom>
          <a:solidFill>
            <a:srgbClr val="F9F9F9"/>
          </a:solidFill>
          <a:ln w="12700">
            <a:solidFill>
              <a:srgbClr val="F0C0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60857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LLM integration requires active API key for full functionality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2C6E9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1A7A8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7432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24128"/>
            <a:ext cx="5303520" cy="475488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OWL 2 property chain enables automatic multi-disease diagnosis inference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5303520" cy="475488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9105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SWRL rule-based clinical decision support functions correctly in Protégé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5303520" cy="475488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969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20 SPARQL queries address all 10 competency questions — 20/20 pass rate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5303520" cy="475488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8833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7 SHACL shapes validate 1,925 triples — Conforms: True, zero violations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5303520" cy="475488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3697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LLM NL→SPARQL pipeline provides accessible natural language interface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767328"/>
            <a:ext cx="5303520" cy="475488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Semantic web technologies enable explainable, auditable clinical reasoning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8686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12984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GraphDB deployment — full OWL 2 query-time reasoning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18470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ICD-10 / SNOMED CT integration at scale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23957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Apache Kafka + Siddhi CEP — real-time clinical alerts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29443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Retrieval-augmented generation (RAG) for LLM grounding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34930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Probabilistic symptom weighting and differential ranking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40416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Longitudinal patient observation modelling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142D47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08576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</a:t>
            </a:r>
            <a:r>
              <a:rPr lang="en-US" sz="1000" dirty="0" err="1" smtClean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beyzaucarr</a:t>
            </a:r>
            <a:r>
              <a:rPr lang="en-US" sz="1000" dirty="0" smtClean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/Healthcare-Diagnosis-Ontology</a:t>
            </a:r>
            <a:endParaRPr lang="tr-TR" sz="1000" dirty="0" smtClean="0">
              <a:solidFill>
                <a:srgbClr val="1A7A8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000" dirty="0">
                <a:solidFill>
                  <a:srgbClr val="C00000"/>
                </a:solidFill>
              </a:rPr>
              <a:t>https://beyzaucarr.github.io/Healthcare-Diagnosis-Ontology/widoco-docs/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63440" y="4608576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Engineering and Ontologies  |  MCBU  | 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1946</Words>
  <Application>Microsoft Office PowerPoint</Application>
  <PresentationFormat>Ekran Gösterisi (16:9)</PresentationFormat>
  <Paragraphs>328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2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Diagnosis Ontology v4</dc:title>
  <dc:subject>Knowledge Engineering and Ontologies — MCBU 2025–2026</dc:subject>
  <dc:creator>Beyza Ucar</dc:creator>
  <cp:lastModifiedBy>Beyza</cp:lastModifiedBy>
  <cp:revision>3</cp:revision>
  <dcterms:created xsi:type="dcterms:W3CDTF">2026-06-16T06:56:46Z</dcterms:created>
  <dcterms:modified xsi:type="dcterms:W3CDTF">2026-06-17T03:51:31Z</dcterms:modified>
</cp:coreProperties>
</file>