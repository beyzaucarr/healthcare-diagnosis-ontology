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-1302" y="-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2FCE6-58E3-42AB-A0EA-C724DD3100F4}" type="datetimeFigureOut">
              <a:rPr lang="tr-TR" smtClean="0"/>
              <a:t>17.06.2026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D67CE5-D31C-4BA2-8B08-E2824681D7E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5810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Introduce yourself and the project title. Mention 10-minute presentation. Quick tour of the stats on the right.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clinical knowledge is unstructured. Approach: OWL+SWRL+SHACL+LLM. Outcomes: 1925 triples, 20/20 SPARQL, Conforms:True, NL pipeline. 50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OWL classes. Property chain: patient reports symptom → disease with that symptom → possible diagnosis inferred automatically by HermiT. SWRL rule: duration&gt;13 AND fever=Yes → SputumTest. 75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DOID. Expanded from 3 to 50 diseases. 10 clinical categories. 1925 triples. Patient profiles manually authored. 50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RDF triple model. Show Ali's triples. Property chain infers Tuberculosis. SWRL assigns SputumTest. Transition to Protégé demo.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SPARQL queries total. Basic: 8 queries standard retrieval. Reasoning: 3 queries including SWRL simulation. Aggregation: 9 queries with COUNT, AVG, HAVING, FILTER. All 20 passed. 70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Q10 step by step. FILTER checks two conditions. Results: Ali 14d, Selin 45d both pass. These are exactly the patients SWRL assigns SputumTest to in Protégé.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SHACL shapes. PatientShape most comprehensive — 8 property constraints. sh:in ensures controlled vocabulary on risk, fever, gender, category. Validation: Conforms True, 0 violations, 1925 triples.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6-stage pipeline. System prompt contains full schema — prevents hallucination of non-existent entities. Generated SPARQL validated by RDFLib execution. Show 2 live examples in demo. 70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KPI: 20/20 SPARQL, 7/7 SHACL, 1925 triples, 50 diseases. Six key achievements. Six honest limitations — RDFLib can't do property chain natively, no GraphDB, no probabilistic reasoning.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six conclusions. Future: GraphDB, ICD-10, RAG, Kafka CEP. Show GitHub link. Thank the audience. 50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8072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0" y="0"/>
            <a:ext cx="109728" cy="5148072"/>
          </a:xfrm>
          <a:prstGeom prst="rect">
            <a:avLst/>
          </a:prstGeom>
          <a:solidFill>
            <a:srgbClr val="1A7A8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320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Engineering and Ontologies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217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MCBU — Spring 2025–2026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3017520" cy="27432"/>
          </a:xfrm>
          <a:prstGeom prst="rect">
            <a:avLst/>
          </a:prstGeom>
          <a:solidFill>
            <a:srgbClr val="1A7A8A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9728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19072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340864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Ontology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74320" y="309067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0C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Semantic Web Approach to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B0C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Decision Support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3840480"/>
            <a:ext cx="3291840" cy="27432"/>
          </a:xfrm>
          <a:prstGeom prst="rect">
            <a:avLst/>
          </a:prstGeom>
          <a:solidFill>
            <a:srgbClr val="2C4A6E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393192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Beyza</a:t>
            </a: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b="1" dirty="0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r>
              <a:rPr lang="tr-TR" sz="1300" b="1" dirty="0" err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</a:t>
            </a:r>
            <a:r>
              <a:rPr lang="en-US" sz="1300" b="1" dirty="0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" y="4206240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ID: 220316060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" y="4407408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Manisa Celal Bayar University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460857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Engineering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60520" y="54864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0F7FA"/>
          </a:solidFill>
          <a:ln w="12700">
            <a:solidFill>
              <a:srgbClr val="D0E4EE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60520" y="5943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1,925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160520" y="10789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RDF Triples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0" y="54864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8FBFD"/>
          </a:solidFill>
          <a:ln w="12700">
            <a:solidFill>
              <a:srgbClr val="D0E4EE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0" y="5943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583680" y="10789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60520" y="1627632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0F7FA"/>
          </a:solidFill>
          <a:ln w="12700">
            <a:solidFill>
              <a:srgbClr val="D0E4EE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160520" y="167335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160520" y="21579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0" y="1627632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8FBFD"/>
          </a:solidFill>
          <a:ln w="12700">
            <a:solidFill>
              <a:srgbClr val="D0E4EE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0" y="167335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583680" y="21579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60520" y="270662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0F7FA"/>
          </a:solidFill>
          <a:ln w="12700">
            <a:solidFill>
              <a:srgbClr val="D0E4EE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160520" y="275234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4160520" y="32369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583680" y="270662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8FBFD"/>
          </a:solidFill>
          <a:ln w="12700">
            <a:solidFill>
              <a:srgbClr val="D0E4EE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83680" y="275234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6583680" y="32369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SPARQL Queries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160520" y="3785616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0F7FA"/>
          </a:solidFill>
          <a:ln w="12700">
            <a:solidFill>
              <a:srgbClr val="D0E4EE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160520" y="383133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4160520" y="4315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SHACL Shapes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83680" y="3785616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8FBFD"/>
          </a:solidFill>
          <a:ln w="12700">
            <a:solidFill>
              <a:srgbClr val="D0E4EE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583680" y="383133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6583680" y="4315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01168" y="777240"/>
            <a:ext cx="2743200" cy="4160520"/>
          </a:xfrm>
          <a:prstGeom prst="roundRect">
            <a:avLst>
              <a:gd name="adj" fmla="val 3333"/>
            </a:avLst>
          </a:prstGeom>
          <a:solidFill>
            <a:srgbClr val="FDF2F2"/>
          </a:solidFill>
          <a:ln w="12700">
            <a:solidFill>
              <a:srgbClr val="F5C6C6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1168" y="777240"/>
            <a:ext cx="2743200" cy="54864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201168" y="7772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⚕  Problem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2608" y="1426464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F5C6C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444752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Clinical knowledge stored in unstructured formats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" y="2231136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F5C6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224942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systems cannot reason over it systematically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" y="3035808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F5C6C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3054096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Black-box ML models lack auditability in clinical settings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72968" y="777240"/>
            <a:ext cx="2743200" cy="4160520"/>
          </a:xfrm>
          <a:prstGeom prst="roundRect">
            <a:avLst>
              <a:gd name="adj" fmla="val 3333"/>
            </a:avLst>
          </a:prstGeom>
          <a:solidFill>
            <a:srgbClr val="EFF5FC"/>
          </a:solidFill>
          <a:ln w="12700">
            <a:solidFill>
              <a:srgbClr val="C8DCF0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72968" y="777240"/>
            <a:ext cx="2743200" cy="548640"/>
          </a:xfrm>
          <a:prstGeom prst="roundRect">
            <a:avLst>
              <a:gd name="adj" fmla="val 16667"/>
            </a:avLst>
          </a:prstGeom>
          <a:solidFill>
            <a:srgbClr val="2C6E9E"/>
          </a:solidFill>
          <a:ln/>
        </p:spPr>
      </p:sp>
      <p:sp>
        <p:nvSpPr>
          <p:cNvPr id="15" name="Text 13"/>
          <p:cNvSpPr/>
          <p:nvPr/>
        </p:nvSpPr>
        <p:spPr>
          <a:xfrm>
            <a:off x="3172968" y="7772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 Approach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64408" y="1426464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5848" y="1444752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OWL 2 ontology with property chain axiom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64408" y="2231136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55848" y="224942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SWRL rule-based clinical decision support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64408" y="3035808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55848" y="3054096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SHACL data quality constraints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64408" y="3840480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858768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natural language query interface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44768" y="777240"/>
            <a:ext cx="2743200" cy="4160520"/>
          </a:xfrm>
          <a:prstGeom prst="roundRect">
            <a:avLst>
              <a:gd name="adj" fmla="val 3333"/>
            </a:avLst>
          </a:prstGeom>
          <a:solidFill>
            <a:srgbClr val="EEF8F1"/>
          </a:solidFill>
          <a:ln w="12700">
            <a:solidFill>
              <a:srgbClr val="A9D9B4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44768" y="777240"/>
            <a:ext cx="2743200" cy="548640"/>
          </a:xfrm>
          <a:prstGeom prst="roundRect">
            <a:avLst>
              <a:gd name="adj" fmla="val 16667"/>
            </a:avLst>
          </a:prstGeom>
          <a:solidFill>
            <a:srgbClr val="1E8449"/>
          </a:solidFill>
          <a:ln/>
        </p:spPr>
      </p:sp>
      <p:sp>
        <p:nvSpPr>
          <p:cNvPr id="26" name="Text 24"/>
          <p:cNvSpPr/>
          <p:nvPr/>
        </p:nvSpPr>
        <p:spPr>
          <a:xfrm>
            <a:off x="6144768" y="7772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Outcomes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36208" y="1426464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A9D9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7648" y="1444752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1,925 RDF triples — 50 diseases, 20 patients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36208" y="2231136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A9D9B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224942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 / 20 SPARQL queries passed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36208" y="3035808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A9D9B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27648" y="3054096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SHACL validation: Conforms True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36208" y="3840480"/>
            <a:ext cx="256032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A9D9B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27648" y="3858768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End-to-end NL → SPARQL pipeline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Ontology Design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777240"/>
            <a:ext cx="4114800" cy="4206240"/>
          </a:xfrm>
          <a:prstGeom prst="roundRect">
            <a:avLst>
              <a:gd name="adj" fmla="val 2222"/>
            </a:avLst>
          </a:prstGeom>
          <a:solidFill>
            <a:srgbClr val="F7FAFB"/>
          </a:solidFill>
          <a:ln w="12700">
            <a:solidFill>
              <a:srgbClr val="C8DCE8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4124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41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OWL Classes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170432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EBF4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170432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40280" y="1170432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F0F7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1170432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EBF4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82880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40280" y="1828800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F0F7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40280" y="182880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487168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EBF4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487168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DiagnosticTest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40280" y="2487168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F0F7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40280" y="2487168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ClinicalAlert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145536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EBF4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3145536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RiskAssessment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40280" y="3145536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F0F7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40280" y="3145536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PatientObservation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3803904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EBF4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803904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DiagnosticRecommendation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240280" y="3803904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F0F7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40280" y="3803904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ClinicalRule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4320" y="4462272"/>
            <a:ext cx="1828800" cy="530352"/>
          </a:xfrm>
          <a:prstGeom prst="roundRect">
            <a:avLst>
              <a:gd name="adj" fmla="val 13793"/>
            </a:avLst>
          </a:prstGeom>
          <a:solidFill>
            <a:srgbClr val="EBF4FA"/>
          </a:solidFill>
          <a:ln w="12700">
            <a:solidFill>
              <a:srgbClr val="B8D4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462272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34840" y="777240"/>
            <a:ext cx="4526280" cy="1920240"/>
          </a:xfrm>
          <a:prstGeom prst="roundRect">
            <a:avLst>
              <a:gd name="adj" fmla="val 4762"/>
            </a:avLst>
          </a:prstGeom>
          <a:solidFill>
            <a:srgbClr val="EFF5FC"/>
          </a:solidFill>
          <a:ln w="12700">
            <a:solidFill>
              <a:srgbClr val="2C6E9E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26280" y="84124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2C6E9E"/>
          </a:solidFill>
          <a:ln/>
        </p:spPr>
      </p:sp>
      <p:sp>
        <p:nvSpPr>
          <p:cNvPr id="31" name="Text 29"/>
          <p:cNvSpPr/>
          <p:nvPr/>
        </p:nvSpPr>
        <p:spPr>
          <a:xfrm>
            <a:off x="4526280" y="841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Chain Axiom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26280" y="1170432"/>
            <a:ext cx="4251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reportsSymptom ∘ inverse(hasSymptom)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26280" y="1481328"/>
            <a:ext cx="4251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⊑  possibleDiagnosis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26280" y="1883664"/>
            <a:ext cx="4251960" cy="27432"/>
          </a:xfrm>
          <a:prstGeom prst="rect">
            <a:avLst/>
          </a:prstGeom>
          <a:solidFill>
            <a:srgbClr val="2C6E9E"/>
          </a:solidFill>
          <a:ln/>
        </p:spPr>
      </p:sp>
      <p:sp>
        <p:nvSpPr>
          <p:cNvPr id="35" name="Text 33"/>
          <p:cNvSpPr/>
          <p:nvPr/>
        </p:nvSpPr>
        <p:spPr>
          <a:xfrm>
            <a:off x="4526280" y="1938528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patient reports symptom S and disease D has symptom S, the reasoner automatically infers D as a possible diagnosis — no manual assertion required.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434840" y="2834640"/>
            <a:ext cx="4526280" cy="2148840"/>
          </a:xfrm>
          <a:prstGeom prst="roundRect">
            <a:avLst>
              <a:gd name="adj" fmla="val 4255"/>
            </a:avLst>
          </a:prstGeom>
          <a:solidFill>
            <a:srgbClr val="EEF8F1"/>
          </a:solidFill>
          <a:ln w="12700">
            <a:solidFill>
              <a:srgbClr val="1E8449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26280" y="289864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38" name="Text 36"/>
          <p:cNvSpPr/>
          <p:nvPr/>
        </p:nvSpPr>
        <p:spPr>
          <a:xfrm>
            <a:off x="4526280" y="2898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SWRL Clinical Rule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26280" y="3218688"/>
            <a:ext cx="4251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Patient(?p) ∧ hasSymptomDuration(?p, ?d)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26280" y="3493008"/>
            <a:ext cx="4251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∧ swrlb:greaterThan(?d, 13)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526280" y="3767328"/>
            <a:ext cx="4251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∧ hasFeverStatus(?p, "Yes")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26280" y="4059936"/>
            <a:ext cx="4251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requiresTest(?p, SputumTest)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26280" y="4407408"/>
            <a:ext cx="4251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 for: Ali (14 d, fever Yes) · Selin (45 d, fever Yes)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Acquisition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822960"/>
            <a:ext cx="8778240" cy="658368"/>
          </a:xfrm>
          <a:prstGeom prst="roundRect">
            <a:avLst>
              <a:gd name="adj" fmla="val 13889"/>
            </a:avLst>
          </a:prstGeom>
          <a:solidFill>
            <a:srgbClr val="F0F7F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822960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source: 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00200" y="822960"/>
            <a:ext cx="7223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Disease Ontology (DOID) — OBO Foundry registered, DOID identifiers, cross-references to ICD-10 / OMIM / MeSH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82880" y="1627632"/>
            <a:ext cx="1353312" cy="914400"/>
          </a:xfrm>
          <a:prstGeom prst="roundRect">
            <a:avLst>
              <a:gd name="adj" fmla="val 10000"/>
            </a:avLst>
          </a:prstGeom>
          <a:solidFill>
            <a:srgbClr val="EFF5FC"/>
          </a:solidFill>
          <a:ln w="12700">
            <a:solidFill>
              <a:srgbClr val="C8DCE8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" y="1645920"/>
            <a:ext cx="13533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82880" y="2139696"/>
            <a:ext cx="1353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73352" y="1627632"/>
            <a:ext cx="1353312" cy="914400"/>
          </a:xfrm>
          <a:prstGeom prst="roundRect">
            <a:avLst>
              <a:gd name="adj" fmla="val 10000"/>
            </a:avLst>
          </a:prstGeom>
          <a:solidFill>
            <a:srgbClr val="F8FBFD"/>
          </a:solidFill>
          <a:ln w="12700">
            <a:solidFill>
              <a:srgbClr val="C8DCE8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673352" y="1645920"/>
            <a:ext cx="13533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73352" y="2139696"/>
            <a:ext cx="1353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163824" y="1627632"/>
            <a:ext cx="1353312" cy="914400"/>
          </a:xfrm>
          <a:prstGeom prst="roundRect">
            <a:avLst>
              <a:gd name="adj" fmla="val 10000"/>
            </a:avLst>
          </a:prstGeom>
          <a:solidFill>
            <a:srgbClr val="EFF5FC"/>
          </a:solidFill>
          <a:ln w="12700">
            <a:solidFill>
              <a:srgbClr val="C8DCE8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63824" y="1645920"/>
            <a:ext cx="13533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163824" y="2139696"/>
            <a:ext cx="1353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54296" y="1627632"/>
            <a:ext cx="1353312" cy="914400"/>
          </a:xfrm>
          <a:prstGeom prst="roundRect">
            <a:avLst>
              <a:gd name="adj" fmla="val 10000"/>
            </a:avLst>
          </a:prstGeom>
          <a:solidFill>
            <a:srgbClr val="F8FBFD"/>
          </a:solidFill>
          <a:ln w="12700">
            <a:solidFill>
              <a:srgbClr val="C8DCE8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54296" y="1645920"/>
            <a:ext cx="13533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654296" y="2139696"/>
            <a:ext cx="1353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44768" y="1627632"/>
            <a:ext cx="1353312" cy="914400"/>
          </a:xfrm>
          <a:prstGeom prst="roundRect">
            <a:avLst>
              <a:gd name="adj" fmla="val 10000"/>
            </a:avLst>
          </a:prstGeom>
          <a:solidFill>
            <a:srgbClr val="EFF5FC"/>
          </a:solidFill>
          <a:ln w="12700">
            <a:solidFill>
              <a:srgbClr val="C8DCE8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44768" y="1645920"/>
            <a:ext cx="13533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44768" y="2139696"/>
            <a:ext cx="1353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635240" y="1627632"/>
            <a:ext cx="1353312" cy="914400"/>
          </a:xfrm>
          <a:prstGeom prst="roundRect">
            <a:avLst>
              <a:gd name="adj" fmla="val 10000"/>
            </a:avLst>
          </a:prstGeom>
          <a:solidFill>
            <a:srgbClr val="F8FBFD"/>
          </a:solidFill>
          <a:ln w="12700">
            <a:solidFill>
              <a:srgbClr val="C8DCE8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635240" y="1645920"/>
            <a:ext cx="13533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1,925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635240" y="2139696"/>
            <a:ext cx="1353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82880" y="2697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 Category Distribution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82880" y="3017520"/>
            <a:ext cx="8778240" cy="274320"/>
          </a:xfrm>
          <a:prstGeom prst="roundRect">
            <a:avLst>
              <a:gd name="adj" fmla="val 33333"/>
            </a:avLst>
          </a:prstGeom>
          <a:solidFill>
            <a:srgbClr val="F0F7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2608" y="303580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Infectious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30168" y="303580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160520" y="3035808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Influenza, COVID-19, TB, Pneumonia, Dengue, Malaria ...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82880" y="3319272"/>
            <a:ext cx="877824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" y="333756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Neurological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30168" y="33375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60520" y="3337560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Migraine, Alzheimer, Epilepsy, Parkinson, MS, Meningitis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82880" y="3621024"/>
            <a:ext cx="8778240" cy="274320"/>
          </a:xfrm>
          <a:prstGeom prst="roundRect">
            <a:avLst>
              <a:gd name="adj" fmla="val 33333"/>
            </a:avLst>
          </a:prstGeom>
          <a:solidFill>
            <a:srgbClr val="F0F7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2608" y="363931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Autoimmune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30168" y="363931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60520" y="3639312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RA, Lupus, Psoriasis, Celiac, Sarcoidosis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82880" y="3922776"/>
            <a:ext cx="877824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2608" y="394106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Cardiovascular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30168" y="394106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160520" y="3941064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Hypertension, HeartFailure, CAD, Stroke, Arrhythmia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82880" y="4224528"/>
            <a:ext cx="8778240" cy="274320"/>
          </a:xfrm>
          <a:prstGeom prst="roundRect">
            <a:avLst>
              <a:gd name="adj" fmla="val 33333"/>
            </a:avLst>
          </a:prstGeom>
          <a:solidFill>
            <a:srgbClr val="F0F7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92608" y="424281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Metabolic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30168" y="4242816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160520" y="4242816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Diabetes, Hypothyroidism, Hyperthyroidism, Gout, Obesity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82880" y="4526280"/>
            <a:ext cx="877824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2608" y="454456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Respiratory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630168" y="454456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160520" y="4544568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Asthma, Bronchitis, COPD, PulmonaryFibrosis, SleepApnea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82880" y="4828032"/>
            <a:ext cx="8778240" cy="274320"/>
          </a:xfrm>
          <a:prstGeom prst="roundRect">
            <a:avLst>
              <a:gd name="adj" fmla="val 33333"/>
            </a:avLst>
          </a:prstGeom>
          <a:solidFill>
            <a:srgbClr val="F0F7FA"/>
          </a:solidFill>
          <a:ln w="12700">
            <a:solidFill>
              <a:srgbClr val="D8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2608" y="48463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Hematological / Surgical / Renal / Musculoskeletal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630168" y="48463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160520" y="4846320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Anemia, Leukemia, Appendicitis, GallstoneDisease, KidneyStones ...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Graph Construction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777240"/>
            <a:ext cx="4937760" cy="2926080"/>
          </a:xfrm>
          <a:prstGeom prst="roundRect">
            <a:avLst>
              <a:gd name="adj" fmla="val 3125"/>
            </a:avLst>
          </a:prstGeom>
          <a:solidFill>
            <a:srgbClr val="F7FAFB"/>
          </a:solidFill>
          <a:ln w="12700">
            <a:solidFill>
              <a:srgbClr val="C8DCE8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4124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41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RDF Triple Model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1B3A5C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" y="14173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(Patient)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920240" y="1051560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1A7A8A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20240" y="105156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Cough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(Symptom)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37560" y="1417320"/>
            <a:ext cx="1463040" cy="640080"/>
          </a:xfrm>
          <a:prstGeom prst="roundRect">
            <a:avLst>
              <a:gd name="adj" fmla="val 14286"/>
            </a:avLst>
          </a:prstGeom>
          <a:solidFill>
            <a:srgbClr val="2C6E9E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37560" y="141732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Tuberculosis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(Disease)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828800" y="2606040"/>
            <a:ext cx="1508760" cy="640080"/>
          </a:xfrm>
          <a:prstGeom prst="roundRect">
            <a:avLst>
              <a:gd name="adj" fmla="val 14286"/>
            </a:avLst>
          </a:prstGeom>
          <a:solidFill>
            <a:srgbClr val="2C7744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828800" y="26060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SputumTest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(DiagTest)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83280" y="2606040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83280" y="26060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TBAlert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(Alert)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88720" y="12344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reportsSymptom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874520" y="126187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hasSymptom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" y="22860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requiresTest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383280" y="221284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triggersAlert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011680" y="189280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possibleDiagnosis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(inferred)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257800" y="777240"/>
            <a:ext cx="3749040" cy="2926080"/>
          </a:xfrm>
          <a:prstGeom prst="roundRect">
            <a:avLst>
              <a:gd name="adj" fmla="val 3125"/>
            </a:avLst>
          </a:prstGeom>
          <a:solidFill>
            <a:srgbClr val="EDF2F7"/>
          </a:solidFill>
          <a:ln w="12700">
            <a:solidFill>
              <a:srgbClr val="C0CDD8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349240" y="84124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24" name="Text 22"/>
          <p:cNvSpPr/>
          <p:nvPr/>
        </p:nvSpPr>
        <p:spPr>
          <a:xfrm>
            <a:off x="5349240" y="841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Turtle Serialization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49240" y="1170432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hdo:Ali rdf:type hdo:Patient ;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49240" y="1344168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rdfs:label "Ali" ;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349240" y="1517904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hdo:hasAge "35"^^xsd:integer ;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349240" y="1691640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hdo:hasGender "Male" ;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49240" y="1865376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hdo:hasRiskLevel "Medium" ;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349240" y="2039112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hdo:hasFeverStatus "Yes" ;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349240" y="2212848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hdo:hasSymptomDuration "14"^^xsd:integer ;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349240" y="2386584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hdo:reportsSymptom hdo:Cough ,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349240" y="2560320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hdo:Fever , hdo:NightSweats ;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349240" y="2734056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hdo:requiresTest hdo:SputumTest ;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349240" y="2907792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hdo:triggersAlert hdo:TBAlert 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82880" y="3794760"/>
            <a:ext cx="8778240" cy="1097280"/>
          </a:xfrm>
          <a:prstGeom prst="roundRect">
            <a:avLst>
              <a:gd name="adj" fmla="val 8333"/>
            </a:avLst>
          </a:prstGeom>
          <a:solidFill>
            <a:srgbClr val="F0F7FA"/>
          </a:solidFill>
          <a:ln w="12700">
            <a:solidFill>
              <a:srgbClr val="C0D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38587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kg_builder_v4.py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0040" y="411480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Loads healthcare-v4.ttl via RDFLib → executes all 20 SPARQL queries → prints results → serializes to healthcare-kg-v4.ttl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20040" y="4462272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= Graph().parse('healthcare-v4.ttl', format='turtle')   |   rows = list(g.query(sparql))   |   g.serialize('output.ttl')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SPARQL Queries — 20 Queries, 3 Categories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777240"/>
            <a:ext cx="2743200" cy="4297680"/>
          </a:xfrm>
          <a:prstGeom prst="roundRect">
            <a:avLst>
              <a:gd name="adj" fmla="val 3333"/>
            </a:avLst>
          </a:prstGeom>
          <a:solidFill>
            <a:srgbClr val="EFF5FC"/>
          </a:solidFill>
          <a:ln w="12700">
            <a:solidFill>
              <a:srgbClr val="C8DCF0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77724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256032" y="777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Retrieval  Q1–Q8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" y="1325880"/>
            <a:ext cx="259689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" y="133502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Disease → Symptoms (300 rows)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" y="1773936"/>
            <a:ext cx="2596896" cy="393192"/>
          </a:xfrm>
          <a:prstGeom prst="roundRect">
            <a:avLst>
              <a:gd name="adj" fmla="val 13953"/>
            </a:avLst>
          </a:prstGeom>
          <a:solidFill>
            <a:srgbClr val="EFF5FC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" y="1783080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Patient → Reported Symptoms (104 rows)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" y="2221992"/>
            <a:ext cx="259689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" y="223113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Patient → Required Test (20 rows)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6032" y="2670048"/>
            <a:ext cx="2596896" cy="393192"/>
          </a:xfrm>
          <a:prstGeom prst="roundRect">
            <a:avLst>
              <a:gd name="adj" fmla="val 13953"/>
            </a:avLst>
          </a:prstGeom>
          <a:solidFill>
            <a:srgbClr val="EFF5FC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" y="267919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Patient → Clinical Alert + Message (18 rows)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6032" y="3118104"/>
            <a:ext cx="259689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" y="312724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Full Clinical Profile — age, gender, risk, fever, duration (20 rows)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6032" y="3566160"/>
            <a:ext cx="2596896" cy="393192"/>
          </a:xfrm>
          <a:prstGeom prst="roundRect">
            <a:avLst>
              <a:gd name="adj" fmla="val 13953"/>
            </a:avLst>
          </a:prstGeom>
          <a:solidFill>
            <a:srgbClr val="EFF5FC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" y="357530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Disease → Available Treatments (150 rows)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56032" y="4014216"/>
            <a:ext cx="259689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" y="4023360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 Disease DOID + Clinical Category (50 rows)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6032" y="4462272"/>
            <a:ext cx="2596896" cy="393192"/>
          </a:xfrm>
          <a:prstGeom prst="roundRect">
            <a:avLst>
              <a:gd name="adj" fmla="val 13953"/>
            </a:avLst>
          </a:prstGeom>
          <a:solidFill>
            <a:srgbClr val="EFF5FC"/>
          </a:solidFill>
          <a:ln w="12700">
            <a:solidFill>
              <a:srgbClr val="C8D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" y="447141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 Patient → Diagnostic Recommendations (20 rows)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971800" y="777240"/>
            <a:ext cx="2011680" cy="4297680"/>
          </a:xfrm>
          <a:prstGeom prst="roundRect">
            <a:avLst>
              <a:gd name="adj" fmla="val 4545"/>
            </a:avLst>
          </a:prstGeom>
          <a:solidFill>
            <a:srgbClr val="EEF5F7"/>
          </a:solidFill>
          <a:ln w="12700">
            <a:solidFill>
              <a:srgbClr val="A8CDD4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971800" y="77724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A7A8A"/>
          </a:solidFill>
          <a:ln/>
        </p:spPr>
      </p:sp>
      <p:sp>
        <p:nvSpPr>
          <p:cNvPr id="25" name="Text 23"/>
          <p:cNvSpPr/>
          <p:nvPr/>
        </p:nvSpPr>
        <p:spPr>
          <a:xfrm>
            <a:off x="3044952" y="777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  Q9–Q11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044952" y="1325880"/>
            <a:ext cx="186537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A8CD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18104" y="1335024"/>
            <a:ext cx="17373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 Patients sharing symptoms with Tuberculosis (29 rows)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44952" y="1773936"/>
            <a:ext cx="1865376" cy="393192"/>
          </a:xfrm>
          <a:prstGeom prst="roundRect">
            <a:avLst>
              <a:gd name="adj" fmla="val 13953"/>
            </a:avLst>
          </a:prstGeom>
          <a:solidFill>
            <a:srgbClr val="EEF5F7"/>
          </a:solidFill>
          <a:ln w="12700">
            <a:solidFill>
              <a:srgbClr val="A8CD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18104" y="1783080"/>
            <a:ext cx="17373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 SWRL rule match: duration &gt; 13 d AND fever = Yes (3 rows)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044952" y="2221992"/>
            <a:ext cx="186537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A8CD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118104" y="2231136"/>
            <a:ext cx="17373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 High-risk patients aged over 50 with test (5 rows)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0" y="777240"/>
            <a:ext cx="4206240" cy="4297680"/>
          </a:xfrm>
          <a:prstGeom prst="roundRect">
            <a:avLst>
              <a:gd name="adj" fmla="val 2174"/>
            </a:avLst>
          </a:prstGeom>
          <a:solidFill>
            <a:srgbClr val="F0F4FA"/>
          </a:solidFill>
          <a:ln w="12700">
            <a:solidFill>
              <a:srgbClr val="B8CDE4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029200" y="777240"/>
            <a:ext cx="4206240" cy="457200"/>
          </a:xfrm>
          <a:prstGeom prst="roundRect">
            <a:avLst>
              <a:gd name="adj" fmla="val 16000"/>
            </a:avLst>
          </a:prstGeom>
          <a:solidFill>
            <a:srgbClr val="2C6E9E"/>
          </a:solidFill>
          <a:ln/>
        </p:spPr>
      </p:sp>
      <p:sp>
        <p:nvSpPr>
          <p:cNvPr id="34" name="Text 32"/>
          <p:cNvSpPr/>
          <p:nvPr/>
        </p:nvSpPr>
        <p:spPr>
          <a:xfrm>
            <a:off x="5102352" y="777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Aggregation &amp; Filtering  Q12–Q20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102352" y="1325880"/>
            <a:ext cx="405993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B8CD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75504" y="1335024"/>
            <a:ext cx="39319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 Symptom COUNT per disease — GROUP BY, ORDER BY (50 rows)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102352" y="1773936"/>
            <a:ext cx="4059936" cy="393192"/>
          </a:xfrm>
          <a:prstGeom prst="roundRect">
            <a:avLst>
              <a:gd name="adj" fmla="val 13953"/>
            </a:avLst>
          </a:prstGeom>
          <a:solidFill>
            <a:srgbClr val="F0F4FA"/>
          </a:solidFill>
          <a:ln w="12700">
            <a:solidFill>
              <a:srgbClr val="B8CD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75504" y="1783080"/>
            <a:ext cx="39319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 Disease COUNT per category — GROUP BY (10 rows)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02352" y="2221992"/>
            <a:ext cx="405993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B8CDE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75504" y="2231136"/>
            <a:ext cx="39319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 Patient COUNT per risk level (3 rows)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02352" y="2670048"/>
            <a:ext cx="4059936" cy="393192"/>
          </a:xfrm>
          <a:prstGeom prst="roundRect">
            <a:avLst>
              <a:gd name="adj" fmla="val 13953"/>
            </a:avLst>
          </a:prstGeom>
          <a:solidFill>
            <a:srgbClr val="F0F4FA"/>
          </a:solidFill>
          <a:ln w="12700">
            <a:solidFill>
              <a:srgbClr val="B8CD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75504" y="2679192"/>
            <a:ext cx="39319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 AVG symptom duration per risk level (3 rows)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02352" y="3118104"/>
            <a:ext cx="405993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B8CDE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75504" y="3127248"/>
            <a:ext cx="39319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 Diseases with Fatigue symptom (37 rows)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102352" y="3566160"/>
            <a:ext cx="4059936" cy="393192"/>
          </a:xfrm>
          <a:prstGeom prst="roundRect">
            <a:avLst>
              <a:gd name="adj" fmla="val 13953"/>
            </a:avLst>
          </a:prstGeom>
          <a:solidFill>
            <a:srgbClr val="F0F4FA"/>
          </a:solidFill>
          <a:ln w="12700">
            <a:solidFill>
              <a:srgbClr val="B8CDE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75504" y="3575304"/>
            <a:ext cx="39319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Q17 Infectious diseases with &gt; 5 symptoms — HAVING (15 rows)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102352" y="4014216"/>
            <a:ext cx="405993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B8CDE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75504" y="4023360"/>
            <a:ext cx="39319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Q18 Female + High risk patients — multi-FILTER (4 rows)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102352" y="4462272"/>
            <a:ext cx="4059936" cy="393192"/>
          </a:xfrm>
          <a:prstGeom prst="roundRect">
            <a:avLst>
              <a:gd name="adj" fmla="val 13953"/>
            </a:avLst>
          </a:prstGeom>
          <a:solidFill>
            <a:srgbClr val="F0F4FA"/>
          </a:solidFill>
          <a:ln w="12700">
            <a:solidFill>
              <a:srgbClr val="B8CDE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75504" y="4471416"/>
            <a:ext cx="39319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Q19 Patients symptomatic &gt; 30 days (7 rows)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102352" y="4910328"/>
            <a:ext cx="4059936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B8CDE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75504" y="4919472"/>
            <a:ext cx="39319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Q20 Cardiovascular diseases + treatments (15 rows)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7A8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SPARQL Deep Dive — Q10: SWRL Rule Simulation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777240"/>
            <a:ext cx="5349240" cy="4160520"/>
          </a:xfrm>
          <a:prstGeom prst="roundRect">
            <a:avLst>
              <a:gd name="adj" fmla="val 2198"/>
            </a:avLst>
          </a:prstGeom>
          <a:solidFill>
            <a:srgbClr val="EDF2F7"/>
          </a:solidFill>
          <a:ln w="12700">
            <a:solidFill>
              <a:srgbClr val="A0B4C8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4124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41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SPARQL Query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2070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 hdo: &lt;...healthcare#&gt;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38988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 rdf: &lt;...rdf-syntax-ns#&gt;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157276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 rdfs: &lt;...rdf-schema#&gt;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5564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193852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?patientLabel ?duration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21214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?feverStatus ?riskLevel ?age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230428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{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" y="248716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?p rdf:type hdo:Patient 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67004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?p rdfs:label ?patientLabel 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" y="285292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?p hdo:hasSymptomDuration ?duration 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" y="30358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?p hdo:hasFeverStatus ?feverStatus 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" y="321868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?p hdo:hasRiskLevel ?riskLevel 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" y="340156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?p hdo:hasAge ?age 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358444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FILTER (?duration &gt; 13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74320" y="376732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&amp;&amp; ?feverStatus = "Yes")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" y="39502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413308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DESC(?duration)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0" y="777240"/>
            <a:ext cx="3337560" cy="4160520"/>
          </a:xfrm>
          <a:prstGeom prst="roundRect">
            <a:avLst>
              <a:gd name="adj" fmla="val 2740"/>
            </a:avLst>
          </a:prstGeom>
          <a:solidFill>
            <a:srgbClr val="EEF8F1"/>
          </a:solidFill>
          <a:ln w="12700">
            <a:solidFill>
              <a:srgbClr val="1E8449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760720" y="84124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0" y="841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— 3 rows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760720" y="1207008"/>
            <a:ext cx="3108960" cy="292608"/>
          </a:xfrm>
          <a:prstGeom prst="roundRect">
            <a:avLst>
              <a:gd name="adj" fmla="val 31250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1207008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446520" y="1207008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223760" y="1207008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Fever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818120" y="1207008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760720" y="1536192"/>
            <a:ext cx="3108960" cy="384048"/>
          </a:xfrm>
          <a:prstGeom prst="roundRect">
            <a:avLst>
              <a:gd name="adj" fmla="val 23810"/>
            </a:avLst>
          </a:prstGeom>
          <a:solidFill>
            <a:srgbClr val="F5FBF6"/>
          </a:solidFill>
          <a:ln w="12700">
            <a:solidFill>
              <a:srgbClr val="B8D8B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155448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446520" y="155448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days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223760" y="1554480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818120" y="155448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760720" y="1975104"/>
            <a:ext cx="310896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8D8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0" y="199339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46520" y="1993392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days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223760" y="1993392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818120" y="1993392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60720" y="2414016"/>
            <a:ext cx="3108960" cy="384048"/>
          </a:xfrm>
          <a:prstGeom prst="roundRect">
            <a:avLst>
              <a:gd name="adj" fmla="val 23810"/>
            </a:avLst>
          </a:prstGeom>
          <a:solidFill>
            <a:srgbClr val="F5FBF6"/>
          </a:solidFill>
          <a:ln w="12700">
            <a:solidFill>
              <a:srgbClr val="B8D8B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0" y="243230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446520" y="2432304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days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223760" y="2432304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818120" y="2432304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669280" y="2944368"/>
            <a:ext cx="3337560" cy="1993392"/>
          </a:xfrm>
          <a:prstGeom prst="roundRect">
            <a:avLst>
              <a:gd name="adj" fmla="val 4587"/>
            </a:avLst>
          </a:prstGeom>
          <a:solidFill>
            <a:srgbClr val="F7FAFB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60720" y="29992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query does: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760720" y="32918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Simulates the SWRL rule in SPARQL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760720" y="36027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Identifies patients where symptom duration exceeds 13 days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760720" y="391363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And fever status is recorded as Yes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760720" y="4224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These patients receive SputumTest in Protégé via SWRL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760720" y="453542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Ali and Selin both satisfy both conditions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SHACL Validation — 7 Shapes, Conforms: True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804672"/>
            <a:ext cx="8778240" cy="530352"/>
          </a:xfrm>
          <a:prstGeom prst="roundRect">
            <a:avLst>
              <a:gd name="adj" fmla="val 17241"/>
            </a:avLst>
          </a:prstGeom>
          <a:solidFill>
            <a:srgbClr val="EEF8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804672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Validation Result: Conforms: True  —  Zero violations across all 1,925 triples and 7 SHACL shapes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" y="1426464"/>
            <a:ext cx="8778240" cy="438912"/>
          </a:xfrm>
          <a:prstGeom prst="roundRect">
            <a:avLst>
              <a:gd name="adj" fmla="val 20833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144475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PatientShape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633472" y="144475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69080" y="1444752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constraints: min 1 symptom; riskLevel ∈ {Low, Medium, High}; feverStatus ∈ {Yes, No}; age 0–130; gender ∈ {Male, Female, Other}; min 1 diagnostic test; min 1 recommendation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2880" y="1920240"/>
            <a:ext cx="87782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193852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DiseaseShape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33472" y="1938528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69080" y="1938528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constraints: 2–10 symptoms; min 1 treatment; exactly 1 DOID; exactly 1 description; category from 10-value controlled vocabulary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2880" y="2414016"/>
            <a:ext cx="8778240" cy="438912"/>
          </a:xfrm>
          <a:prstGeom prst="roundRect">
            <a:avLst>
              <a:gd name="adj" fmla="val 20833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243230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ClinicalAlertShape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33472" y="2432304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ClinicalAlert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432304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constraints: exactly 1 alert message with minimum 10 characters; must carry rdfs:label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2880" y="2907792"/>
            <a:ext cx="87782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2608" y="292608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DiagnosticTestShape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633472" y="2926080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DiagnosticTest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69080" y="292608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constraint: must carry rdfs:label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82880" y="3401568"/>
            <a:ext cx="8778240" cy="438912"/>
          </a:xfrm>
          <a:prstGeom prst="roundRect">
            <a:avLst>
              <a:gd name="adj" fmla="val 20833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3419856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DiagnosticRecommendationShape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633472" y="3419856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DiagnosticRecommendation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069080" y="3419856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constraint: must carry rdfs:label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82880" y="3895344"/>
            <a:ext cx="877824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2608" y="391363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SymptomShape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633472" y="391363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3913632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constraint: must carry rdfs:label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82880" y="4389120"/>
            <a:ext cx="8778240" cy="438912"/>
          </a:xfrm>
          <a:prstGeom prst="roundRect">
            <a:avLst>
              <a:gd name="adj" fmla="val 20833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" y="440740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TreatmentShape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33472" y="4407408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069080" y="4407408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constraint: must carry rdfs:label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82880" y="4910328"/>
            <a:ext cx="8778240" cy="457200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 w="12700">
            <a:solidFill>
              <a:srgbClr val="A0B4C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4919472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pyshacl.validate(data_g, shacl_graph=shacl_g, inference='rdfs', abort_on_first=False)   →   Conforms: True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C6E9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Integration — Natural Language to SPARQL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777240"/>
            <a:ext cx="1325880" cy="713232"/>
          </a:xfrm>
          <a:prstGeom prst="roundRect">
            <a:avLst>
              <a:gd name="adj" fmla="val 12821"/>
            </a:avLst>
          </a:prstGeom>
          <a:solidFill>
            <a:srgbClr val="1B3A5C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77724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508760" y="886968"/>
            <a:ext cx="1554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64208" y="777240"/>
            <a:ext cx="1325880" cy="713232"/>
          </a:xfrm>
          <a:prstGeom prst="roundRect">
            <a:avLst>
              <a:gd name="adj" fmla="val 12821"/>
            </a:avLst>
          </a:prstGeom>
          <a:solidFill>
            <a:srgbClr val="2C6E9E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64208" y="77724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Schema-Constrained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990088" y="886968"/>
            <a:ext cx="1554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145536" y="777240"/>
            <a:ext cx="1325880" cy="713232"/>
          </a:xfrm>
          <a:prstGeom prst="roundRect">
            <a:avLst>
              <a:gd name="adj" fmla="val 12821"/>
            </a:avLst>
          </a:prstGeom>
          <a:solidFill>
            <a:srgbClr val="1A7A8A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45536" y="77724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API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4.6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1416" y="886968"/>
            <a:ext cx="1554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626864" y="777240"/>
            <a:ext cx="1325880" cy="713232"/>
          </a:xfrm>
          <a:prstGeom prst="roundRect">
            <a:avLst>
              <a:gd name="adj" fmla="val 12821"/>
            </a:avLst>
          </a:prstGeom>
          <a:solidFill>
            <a:srgbClr val="2C7744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26864" y="77724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SPARQL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952744" y="886968"/>
            <a:ext cx="1554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08192" y="777240"/>
            <a:ext cx="1325880" cy="713232"/>
          </a:xfrm>
          <a:prstGeom prst="roundRect">
            <a:avLst>
              <a:gd name="adj" fmla="val 12821"/>
            </a:avLst>
          </a:prstGeom>
          <a:solidFill>
            <a:srgbClr val="7D3C98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08192" y="77724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RDFLib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434072" y="886968"/>
            <a:ext cx="1554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89520" y="777240"/>
            <a:ext cx="1325880" cy="713232"/>
          </a:xfrm>
          <a:prstGeom prst="roundRect">
            <a:avLst>
              <a:gd name="adj" fmla="val 12821"/>
            </a:avLst>
          </a:prstGeom>
          <a:solidFill>
            <a:srgbClr val="C0392B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89520" y="77724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82880" y="1664208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Interactions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2880" y="1993392"/>
            <a:ext cx="8778240" cy="310896"/>
          </a:xfrm>
          <a:prstGeom prst="roundRect">
            <a:avLst>
              <a:gd name="adj" fmla="val 29412"/>
            </a:avLst>
          </a:prstGeom>
          <a:solidFill>
            <a:srgbClr val="2C6E9E"/>
          </a:solidFill>
          <a:ln w="12700">
            <a:solidFill>
              <a:srgbClr val="2C6E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199339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Question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1840" y="1993392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SPARQL (key clause)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17920" y="199339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Result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82880" y="2340864"/>
            <a:ext cx="8778240" cy="457200"/>
          </a:xfrm>
          <a:prstGeom prst="roundRect">
            <a:avLst>
              <a:gd name="adj" fmla="val 20000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359152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patients have a high risk level?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46120" y="2359152"/>
            <a:ext cx="2788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FILTER(?riskLevel = "High")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144768" y="2359152"/>
            <a:ext cx="2697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patients: Ayse, Burak, Zeynep, Hasan, Murat, Derya, Cemil, Gulsah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82880" y="2852928"/>
            <a:ext cx="8778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871216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treatments are available for Tuberculosis?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46120" y="2871216"/>
            <a:ext cx="2788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hdo:Tuberculosis hdo:hasTreatment ?t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44768" y="2871216"/>
            <a:ext cx="2697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IsoniazidRifampin, Pyrazinamide, Ethambutol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82880" y="3364992"/>
            <a:ext cx="8778240" cy="457200"/>
          </a:xfrm>
          <a:prstGeom prst="roundRect">
            <a:avLst>
              <a:gd name="adj" fmla="val 20000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383280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symptoms does each disease have?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46120" y="3383280"/>
            <a:ext cx="2788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COUNT(?symptom) GROUP BY ?diseaseLabel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44768" y="3383280"/>
            <a:ext cx="2697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rows, ordered descending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82880" y="3877056"/>
            <a:ext cx="8778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3895344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diseases belong to the Neurological category?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46120" y="3895344"/>
            <a:ext cx="2788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FILTER(?cat = "Neurological")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44768" y="3895344"/>
            <a:ext cx="2697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Migraine, Alzheimer, Epilepsy, Parkinson, Multiple Sclerosis, Meningitis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82880" y="4389120"/>
            <a:ext cx="8778240" cy="457200"/>
          </a:xfrm>
          <a:prstGeom prst="roundRect">
            <a:avLst>
              <a:gd name="adj" fmla="val 20000"/>
            </a:avLst>
          </a:prstGeom>
          <a:solidFill>
            <a:srgbClr val="F0F7FA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407408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patients have been symptomatic for more than 30 days?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46120" y="4407408"/>
            <a:ext cx="2788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FILTER(?duration &gt; 30)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144768" y="4407408"/>
            <a:ext cx="2697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Fatma 180d, Kemal 90d, Murat 60d, Nilufer 60d, Aysun 50d, Selin 45d, Mehmet 30d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82880" y="4974336"/>
            <a:ext cx="8778240" cy="384048"/>
          </a:xfrm>
          <a:prstGeom prst="roundRect">
            <a:avLst>
              <a:gd name="adj" fmla="val 23810"/>
            </a:avLst>
          </a:prstGeom>
          <a:solidFill>
            <a:srgbClr val="FEF9E7"/>
          </a:solidFill>
          <a:ln w="12700">
            <a:solidFill>
              <a:srgbClr val="F0C0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4974336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mitigation:  schema-anchored system prompt (all 50 diseases, all properties, valid enumerations listed) + RDFLib execution validation of generated SPARQL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Evaluation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777240"/>
            <a:ext cx="2057400" cy="1188720"/>
          </a:xfrm>
          <a:prstGeom prst="roundRect">
            <a:avLst>
              <a:gd name="adj" fmla="val 7692"/>
            </a:avLst>
          </a:prstGeom>
          <a:solidFill>
            <a:srgbClr val="F7FAFB"/>
          </a:solidFill>
          <a:ln w="12700">
            <a:solidFill>
              <a:srgbClr val="C0D4E4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777240"/>
            <a:ext cx="2057400" cy="7315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" y="86868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" y="146304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SPARQL Queries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395728" y="777240"/>
            <a:ext cx="2057400" cy="1188720"/>
          </a:xfrm>
          <a:prstGeom prst="roundRect">
            <a:avLst>
              <a:gd name="adj" fmla="val 7692"/>
            </a:avLst>
          </a:prstGeom>
          <a:solidFill>
            <a:srgbClr val="F7FAFB"/>
          </a:solidFill>
          <a:ln w="12700">
            <a:solidFill>
              <a:srgbClr val="C0D4E4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95728" y="777240"/>
            <a:ext cx="2057400" cy="73152"/>
          </a:xfrm>
          <a:prstGeom prst="rect">
            <a:avLst/>
          </a:prstGeom>
          <a:solidFill>
            <a:srgbClr val="1A7A8A"/>
          </a:solidFill>
          <a:ln/>
        </p:spPr>
      </p:sp>
      <p:sp>
        <p:nvSpPr>
          <p:cNvPr id="10" name="Text 8"/>
          <p:cNvSpPr/>
          <p:nvPr/>
        </p:nvSpPr>
        <p:spPr>
          <a:xfrm>
            <a:off x="2395728" y="86868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395728" y="146304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SHACL Shapes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08576" y="777240"/>
            <a:ext cx="2057400" cy="1188720"/>
          </a:xfrm>
          <a:prstGeom prst="roundRect">
            <a:avLst>
              <a:gd name="adj" fmla="val 7692"/>
            </a:avLst>
          </a:prstGeom>
          <a:solidFill>
            <a:srgbClr val="F7FAFB"/>
          </a:solidFill>
          <a:ln w="12700">
            <a:solidFill>
              <a:srgbClr val="C0D4E4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777240"/>
            <a:ext cx="2057400" cy="73152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608576" y="86868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1,925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608576" y="146304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RDF Triples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21424" y="777240"/>
            <a:ext cx="2057400" cy="1188720"/>
          </a:xfrm>
          <a:prstGeom prst="roundRect">
            <a:avLst>
              <a:gd name="adj" fmla="val 7692"/>
            </a:avLst>
          </a:prstGeom>
          <a:solidFill>
            <a:srgbClr val="F7FAFB"/>
          </a:solidFill>
          <a:ln w="12700">
            <a:solidFill>
              <a:srgbClr val="C0D4E4"/>
            </a:solidFill>
            <a:prstDash val="solid"/>
          </a:ln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21424" y="777240"/>
            <a:ext cx="2057400" cy="73152"/>
          </a:xfrm>
          <a:prstGeom prst="rect">
            <a:avLst/>
          </a:prstGeom>
          <a:solidFill>
            <a:srgbClr val="2C6E9E"/>
          </a:solidFill>
          <a:ln/>
        </p:spPr>
      </p:sp>
      <p:sp>
        <p:nvSpPr>
          <p:cNvPr id="18" name="Text 16"/>
          <p:cNvSpPr/>
          <p:nvPr/>
        </p:nvSpPr>
        <p:spPr>
          <a:xfrm>
            <a:off x="6821424" y="86868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C6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21424" y="146304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2880" y="20848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Achievements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2880" y="239572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FF5FC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2414016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Property chain axiom enables automatic multi-disease differential inference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82880" y="2834640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F7FAFB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852928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SWRL rule correctly fires for Ali and Selin (duration &gt; 13 d, fever = Yes)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82880" y="3273552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FF5FC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2918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20 SPARQL queries answer all 10 competency questions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82880" y="3712464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F7FAFB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373075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7 SHACL shapes enforce 20 property constraints with zero violations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82880" y="4151376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EFF5FC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169664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LLM pipeline generates valid SPARQL for diverse clinical questions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82880" y="4590288"/>
            <a:ext cx="4206240" cy="384048"/>
          </a:xfrm>
          <a:prstGeom prst="roundRect">
            <a:avLst>
              <a:gd name="adj" fmla="val 23810"/>
            </a:avLst>
          </a:prstGeom>
          <a:solidFill>
            <a:srgbClr val="F7FAFB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608576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50 diseases across 10 categories — broadest HDO version to date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72000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0" y="2395728"/>
            <a:ext cx="4389120" cy="384048"/>
          </a:xfrm>
          <a:prstGeom prst="roundRect">
            <a:avLst>
              <a:gd name="adj" fmla="val 23810"/>
            </a:avLst>
          </a:prstGeom>
          <a:solidFill>
            <a:srgbClr val="FDF2F2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2414016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RDFLib does not evaluate OWL property chains natively — Protégé pre-processing required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0" y="2834640"/>
            <a:ext cx="4389120" cy="384048"/>
          </a:xfrm>
          <a:prstGeom prst="roundRect">
            <a:avLst>
              <a:gd name="adj" fmla="val 23810"/>
            </a:avLst>
          </a:prstGeom>
          <a:solidFill>
            <a:srgbClr val="F9F9F9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2852928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SWRL simulated via SPARQL FILTER — no live SWRL engine in RDFLib environment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572000" y="3273552"/>
            <a:ext cx="4389120" cy="384048"/>
          </a:xfrm>
          <a:prstGeom prst="roundRect">
            <a:avLst>
              <a:gd name="adj" fmla="val 23810"/>
            </a:avLst>
          </a:prstGeom>
          <a:solidFill>
            <a:srgbClr val="FDF2F2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63440" y="329184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 GraphDB deployment — all queries run against local in-memory RDFLib graph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0" y="3712464"/>
            <a:ext cx="4389120" cy="384048"/>
          </a:xfrm>
          <a:prstGeom prst="roundRect">
            <a:avLst>
              <a:gd name="adj" fmla="val 23810"/>
            </a:avLst>
          </a:prstGeom>
          <a:solidFill>
            <a:srgbClr val="F9F9F9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37307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50 diseases vs 350,000+ in SNOMED CT — limited real-world coverage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72000" y="4151376"/>
            <a:ext cx="4389120" cy="384048"/>
          </a:xfrm>
          <a:prstGeom prst="roundRect">
            <a:avLst>
              <a:gd name="adj" fmla="val 23810"/>
            </a:avLst>
          </a:prstGeom>
          <a:solidFill>
            <a:srgbClr val="FDF2F2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63440" y="4169664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 probabilistic reasoning — all inference is deterministic and binary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72000" y="4590288"/>
            <a:ext cx="4389120" cy="384048"/>
          </a:xfrm>
          <a:prstGeom prst="roundRect">
            <a:avLst>
              <a:gd name="adj" fmla="val 23810"/>
            </a:avLst>
          </a:prstGeom>
          <a:solidFill>
            <a:srgbClr val="F9F9F9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0" y="4608576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LLM integration requires active API key for full functionality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914400"/>
            <a:ext cx="4114800" cy="4114800"/>
          </a:xfrm>
          <a:prstGeom prst="ellipse">
            <a:avLst/>
          </a:prstGeom>
          <a:solidFill>
            <a:srgbClr val="2C6E9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474720"/>
            <a:ext cx="3657600" cy="3657600"/>
          </a:xfrm>
          <a:prstGeom prst="ellipse">
            <a:avLst/>
          </a:prstGeom>
          <a:solidFill>
            <a:srgbClr val="1A7A8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114800" cy="27432"/>
          </a:xfrm>
          <a:prstGeom prst="rect">
            <a:avLst/>
          </a:prstGeom>
          <a:solidFill>
            <a:srgbClr val="1A7A8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24128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42416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OWL 2 property chain enables automatic multi-disease diagnosis inference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1572768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591056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SWRL rule-based clinical decision support functions correctly in Protégé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39696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20 SPARQL queries address all 10 competency questions — 20/20 pass rate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670048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88336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7 SHACL shapes validate 1,925 triples — Conforms: True, zero violations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218688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236976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LLM NL→SPARQL pipeline provides accessible natural language interface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767328"/>
            <a:ext cx="5303520" cy="475488"/>
          </a:xfrm>
          <a:prstGeom prst="roundRect">
            <a:avLst>
              <a:gd name="adj" fmla="val 1538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Semantic web technologies enable explainable, auditable clinical reasoning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035040" y="86868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129844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GraphDB deployment — full OWL 2 query-time reasoning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184708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ICD-10 / SNOMED CT integration at scale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239572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Apache Kafka + Siddhi CEP — real-time clinical alerts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35040" y="294436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Retrieval-augmented generation (RAG) for LLM grounding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35040" y="349300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Probabilistic symptom weighting and differential ranking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35040" y="404164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Longitudinal patient observation modelling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572000"/>
            <a:ext cx="9144000" cy="576072"/>
          </a:xfrm>
          <a:prstGeom prst="rect">
            <a:avLst/>
          </a:prstGeom>
          <a:solidFill>
            <a:srgbClr val="142D47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4608576"/>
            <a:ext cx="4572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github.com/beyzaucarr/Healthcare-Diagnosis-Ontology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63440" y="4608576"/>
            <a:ext cx="4206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Engineering and Ontologies  |  MCBU  |  2025–2026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1942</Words>
  <Application>Microsoft Office PowerPoint</Application>
  <PresentationFormat>Ekran Gösterisi (16:9)</PresentationFormat>
  <Paragraphs>327</Paragraphs>
  <Slides>11</Slides>
  <Notes>11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2" baseType="lpstr"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Diagnosis Ontology v4</dc:title>
  <dc:subject>Knowledge Engineering and Ontologies — MCBU 2025–2026</dc:subject>
  <dc:creator>Beyza Ucar</dc:creator>
  <cp:lastModifiedBy>Beyza</cp:lastModifiedBy>
  <cp:revision>2</cp:revision>
  <dcterms:created xsi:type="dcterms:W3CDTF">2026-06-16T06:56:46Z</dcterms:created>
  <dcterms:modified xsi:type="dcterms:W3CDTF">2026-06-17T02:03:06Z</dcterms:modified>
</cp:coreProperties>
</file>